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1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534AB7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" y="0"/>
            <a:ext cx="109728" cy="6858000"/>
          </a:xfrm>
          <a:prstGeom prst="rect">
            <a:avLst/>
          </a:prstGeom>
          <a:solidFill>
            <a:srgbClr val="0F6E56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554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AFA9E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CLAUDE CODE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68680" y="19659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SDLC Masterclass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the tool by shipping embedded C — requirement to release.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3931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A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embedded / Linux / device-driver engineers.   </a:t>
            </a:r>
            <a:pPr indent="0" marL="0">
              <a:buNone/>
            </a:pPr>
            <a:r>
              <a:rPr lang="en-US" sz="1400" dirty="0">
                <a:solidFill>
                  <a:srgbClr val="9F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hours, hands-on.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7F77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L2 assisted   ·   L3 supervised   ·   L4 delegated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6E56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WE'RE HERE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you'll leave with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52120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88900" dist="38100" dir="8100000">
              <a:srgbClr val="26215C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91440" cy="1783080"/>
          </a:xfrm>
          <a:prstGeom prst="rect">
            <a:avLst/>
          </a:prstGeom>
          <a:solidFill>
            <a:srgbClr val="0F6E56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0574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every building block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5603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Prompts, skills, MCP, sub-agents, orchestration, dynamic workflows — and know which to reach for.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09360" y="1828800"/>
            <a:ext cx="52120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88900" dist="38100" dir="8100000">
              <a:srgbClr val="26215C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828800"/>
            <a:ext cx="91440" cy="1783080"/>
          </a:xfrm>
          <a:prstGeom prst="rect">
            <a:avLst/>
          </a:prstGeom>
          <a:solidFill>
            <a:srgbClr val="534AB7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20574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 the full SDLC with Claude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629400" y="25603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to release, on real C firmware — not slideware.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977640"/>
            <a:ext cx="52120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88900" dist="38100" dir="8100000">
              <a:srgbClr val="26215C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977640"/>
            <a:ext cx="91440" cy="1783080"/>
          </a:xfrm>
          <a:prstGeom prst="rect">
            <a:avLst/>
          </a:prstGeom>
          <a:solidFill>
            <a:srgbClr val="0F6E56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42062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 autonomy per stage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60120" y="47091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L2 / L3 / L4 for each stage and defend it to your safety process.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09360" y="3977640"/>
            <a:ext cx="52120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88900" dist="38100" dir="8100000">
              <a:srgbClr val="26215C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3977640"/>
            <a:ext cx="91440" cy="1783080"/>
          </a:xfrm>
          <a:prstGeom prst="rect">
            <a:avLst/>
          </a:prstGeom>
          <a:solidFill>
            <a:srgbClr val="534AB7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42062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Install &amp; adapt the toolkit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629400" y="47091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cc-masterclass-kit home and run it on your own repos Monday.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SDLC Masterclass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1556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6E56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MENTAL MODEL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Everything is context + tools + a loop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468880" y="2194560"/>
            <a:ext cx="30175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F6E56"/>
            </a:solidFill>
            <a:prstDash val="solid"/>
          </a:ln>
          <a:effectLst>
            <a:outerShdw sx="100000" sy="100000" kx="0" ky="0" algn="bl" rotWithShape="0" blurRad="88900" dist="38100" dir="8100000">
              <a:srgbClr val="26215C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697480" y="2450592"/>
            <a:ext cx="402336" cy="402336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7" name="Text 5"/>
          <p:cNvSpPr/>
          <p:nvPr/>
        </p:nvSpPr>
        <p:spPr>
          <a:xfrm>
            <a:off x="2697480" y="24505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46120" y="21945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 context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675120" y="2194560"/>
            <a:ext cx="30175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F6E56"/>
            </a:solidFill>
            <a:prstDash val="solid"/>
          </a:ln>
          <a:effectLst>
            <a:outerShdw sx="100000" sy="100000" kx="0" ky="0" algn="bl" rotWithShape="0" blurRad="88900" dist="38100" dir="8100000">
              <a:srgbClr val="26215C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03720" y="2450592"/>
            <a:ext cx="402336" cy="402336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1" name="Text 9"/>
          <p:cNvSpPr/>
          <p:nvPr/>
        </p:nvSpPr>
        <p:spPr>
          <a:xfrm>
            <a:off x="6903720" y="24505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452360" y="21945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pick a tool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675120" y="4114800"/>
            <a:ext cx="30175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534AB7"/>
            </a:solidFill>
            <a:prstDash val="solid"/>
          </a:ln>
          <a:effectLst>
            <a:outerShdw sx="100000" sy="100000" kx="0" ky="0" algn="bl" rotWithShape="0" blurRad="88900" dist="38100" dir="8100000">
              <a:srgbClr val="26215C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903720" y="4370832"/>
            <a:ext cx="402336" cy="402336"/>
          </a:xfrm>
          <a:prstGeom prst="ellipse">
            <a:avLst/>
          </a:prstGeom>
          <a:solidFill>
            <a:srgbClr val="534AB7"/>
          </a:solidFill>
          <a:ln/>
        </p:spPr>
      </p:sp>
      <p:sp>
        <p:nvSpPr>
          <p:cNvPr id="15" name="Text 13"/>
          <p:cNvSpPr/>
          <p:nvPr/>
        </p:nvSpPr>
        <p:spPr>
          <a:xfrm>
            <a:off x="6903720" y="4370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452360" y="4114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 it locally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2468880" y="4114800"/>
            <a:ext cx="30175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534AB7"/>
            </a:solidFill>
            <a:prstDash val="solid"/>
          </a:ln>
          <a:effectLst>
            <a:outerShdw sx="100000" sy="100000" kx="0" ky="0" algn="bl" rotWithShape="0" blurRad="88900" dist="38100" dir="8100000">
              <a:srgbClr val="26215C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697480" y="4370832"/>
            <a:ext cx="402336" cy="402336"/>
          </a:xfrm>
          <a:prstGeom prst="ellipse">
            <a:avLst/>
          </a:prstGeom>
          <a:solidFill>
            <a:srgbClr val="534AB7"/>
          </a:solidFill>
          <a:ln/>
        </p:spPr>
      </p:sp>
      <p:sp>
        <p:nvSpPr>
          <p:cNvPr id="19" name="Text 17"/>
          <p:cNvSpPr/>
          <p:nvPr/>
        </p:nvSpPr>
        <p:spPr>
          <a:xfrm>
            <a:off x="2697480" y="4370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246120" y="4114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 the result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86400" y="2651760"/>
            <a:ext cx="1188720" cy="0"/>
          </a:xfrm>
          <a:prstGeom prst="line">
            <a:avLst/>
          </a:prstGeom>
          <a:noFill/>
          <a:ln w="25400">
            <a:solidFill>
              <a:srgbClr val="88878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83880" y="3108960"/>
            <a:ext cx="0" cy="1005840"/>
          </a:xfrm>
          <a:prstGeom prst="line">
            <a:avLst/>
          </a:prstGeom>
          <a:noFill/>
          <a:ln w="25400">
            <a:solidFill>
              <a:srgbClr val="88878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675120" y="4572000"/>
            <a:ext cx="-1188720" cy="0"/>
          </a:xfrm>
          <a:prstGeom prst="line">
            <a:avLst/>
          </a:prstGeom>
          <a:noFill/>
          <a:ln w="25400">
            <a:solidFill>
              <a:srgbClr val="88878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977640" y="4114800"/>
            <a:ext cx="0" cy="-1005840"/>
          </a:xfrm>
          <a:prstGeom prst="line">
            <a:avLst/>
          </a:prstGeom>
          <a:noFill/>
          <a:ln w="25400">
            <a:solidFill>
              <a:srgbClr val="88878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349240" y="3154680"/>
            <a:ext cx="1463040" cy="914400"/>
          </a:xfrm>
          <a:prstGeom prst="ellipse">
            <a:avLst/>
          </a:prstGeom>
          <a:solidFill>
            <a:srgbClr val="EFEDFB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49240" y="31546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34AB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loop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5715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— commands, skills, MCP, sub-agents, hooks, plugins — is just a different way to package and scope these three.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SDLC Masterclass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1556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534AB7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34AB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THROUGH-LINE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capability ladder rises with autonomy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627632"/>
            <a:ext cx="201168" cy="201168"/>
          </a:xfrm>
          <a:prstGeom prst="rect">
            <a:avLst/>
          </a:prstGeom>
          <a:solidFill>
            <a:srgbClr val="EAE9E3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57276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assisted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108960" y="1627632"/>
            <a:ext cx="201168" cy="201168"/>
          </a:xfrm>
          <a:prstGeom prst="rect">
            <a:avLst/>
          </a:prstGeom>
          <a:solidFill>
            <a:srgbClr val="DCF0E9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0" y="157276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supervised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577840" y="1627632"/>
            <a:ext cx="201168" cy="201168"/>
          </a:xfrm>
          <a:prstGeom prst="rect">
            <a:avLst/>
          </a:prstGeom>
          <a:solidFill>
            <a:srgbClr val="E7E5FA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0" y="157276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delegated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103120"/>
            <a:ext cx="7680960" cy="566928"/>
          </a:xfrm>
          <a:prstGeom prst="roundRect">
            <a:avLst>
              <a:gd name="adj" fmla="val 9677"/>
            </a:avLst>
          </a:prstGeom>
          <a:solidFill>
            <a:srgbClr val="E7E5FA"/>
          </a:solidFill>
          <a:ln w="15875">
            <a:solidFill>
              <a:srgbClr val="534AB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203704"/>
            <a:ext cx="365760" cy="365760"/>
          </a:xfrm>
          <a:prstGeom prst="ellipse">
            <a:avLst/>
          </a:prstGeom>
          <a:solidFill>
            <a:srgbClr val="534AB7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2203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53312" y="21031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34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dynamic workflow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023360" y="2103120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its own next step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2779776"/>
            <a:ext cx="7680960" cy="566928"/>
          </a:xfrm>
          <a:prstGeom prst="roundRect">
            <a:avLst>
              <a:gd name="adj" fmla="val 9677"/>
            </a:avLst>
          </a:prstGeom>
          <a:solidFill>
            <a:srgbClr val="E7E5FA"/>
          </a:solidFill>
          <a:ln w="15875">
            <a:solidFill>
              <a:srgbClr val="534AB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2880360"/>
            <a:ext cx="365760" cy="365760"/>
          </a:xfrm>
          <a:prstGeom prst="ellipse">
            <a:avLst/>
          </a:prstGeom>
          <a:solidFill>
            <a:srgbClr val="534AB7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53312" y="277977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34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orchestration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023360" y="2779776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agents, one task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3456432"/>
            <a:ext cx="7680960" cy="566928"/>
          </a:xfrm>
          <a:prstGeom prst="roundRect">
            <a:avLst>
              <a:gd name="adj" fmla="val 9677"/>
            </a:avLst>
          </a:prstGeom>
          <a:solidFill>
            <a:srgbClr val="DCF0E9"/>
          </a:solidFill>
          <a:ln w="15875">
            <a:solidFill>
              <a:srgbClr val="0F6E5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4672" y="3557016"/>
            <a:ext cx="365760" cy="36576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3557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53312" y="345643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E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sub-agent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023360" y="3456432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delegated context, scoped tools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4133088"/>
            <a:ext cx="7680960" cy="566928"/>
          </a:xfrm>
          <a:prstGeom prst="roundRect">
            <a:avLst>
              <a:gd name="adj" fmla="val 9677"/>
            </a:avLst>
          </a:prstGeom>
          <a:solidFill>
            <a:srgbClr val="DCF0E9"/>
          </a:solidFill>
          <a:ln w="15875">
            <a:solidFill>
              <a:srgbClr val="0F6E5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" y="4233672"/>
            <a:ext cx="365760" cy="36576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4233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353312" y="413308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E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MCP tool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023360" y="4133088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beyond the repo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4809744"/>
            <a:ext cx="7680960" cy="566928"/>
          </a:xfrm>
          <a:prstGeom prst="roundRect">
            <a:avLst>
              <a:gd name="adj" fmla="val 9677"/>
            </a:avLst>
          </a:prstGeom>
          <a:solidFill>
            <a:srgbClr val="EAE9E3"/>
          </a:solidFill>
          <a:ln w="15875">
            <a:solidFill>
              <a:srgbClr val="8887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4672" y="4910328"/>
            <a:ext cx="365760" cy="365760"/>
          </a:xfrm>
          <a:prstGeom prst="ellipse">
            <a:avLst/>
          </a:prstGeom>
          <a:solidFill>
            <a:srgbClr val="888780"/>
          </a:solidFill>
          <a:ln/>
        </p:spPr>
      </p:sp>
      <p:sp>
        <p:nvSpPr>
          <p:cNvPr id="33" name="Text 31"/>
          <p:cNvSpPr/>
          <p:nvPr/>
        </p:nvSpPr>
        <p:spPr>
          <a:xfrm>
            <a:off x="804672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353312" y="480974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444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skill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4023360" y="4809744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auto-selected, bundles code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5486400"/>
            <a:ext cx="7680960" cy="566928"/>
          </a:xfrm>
          <a:prstGeom prst="roundRect">
            <a:avLst>
              <a:gd name="adj" fmla="val 9677"/>
            </a:avLst>
          </a:prstGeom>
          <a:solidFill>
            <a:srgbClr val="EAE9E3"/>
          </a:solidFill>
          <a:ln w="15875">
            <a:solidFill>
              <a:srgbClr val="88878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4672" y="5586984"/>
            <a:ext cx="365760" cy="365760"/>
          </a:xfrm>
          <a:prstGeom prst="ellipse">
            <a:avLst/>
          </a:prstGeom>
          <a:solidFill>
            <a:srgbClr val="888780"/>
          </a:solidFill>
          <a:ln/>
        </p:spPr>
      </p:sp>
      <p:sp>
        <p:nvSpPr>
          <p:cNvPr id="38" name="Text 36"/>
          <p:cNvSpPr/>
          <p:nvPr/>
        </p:nvSpPr>
        <p:spPr>
          <a:xfrm>
            <a:off x="804672" y="5586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353312" y="54864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444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prompt / command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4023360" y="5486400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saved instruction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8823960" y="6053328"/>
            <a:ext cx="0" cy="-3858768"/>
          </a:xfrm>
          <a:prstGeom prst="line">
            <a:avLst/>
          </a:prstGeom>
          <a:noFill/>
          <a:ln w="31750">
            <a:solidFill>
              <a:srgbClr val="534AB7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 rot="5400000">
            <a:off x="8961120" y="2103120"/>
            <a:ext cx="29260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34AB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more autonomy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SDLC Masterclass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1556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6E56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SPINE OF THE COURSE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levels of autonomy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352044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88900" dist="38100" dir="8100000">
              <a:srgbClr val="26215C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783080"/>
            <a:ext cx="3520440" cy="868680"/>
          </a:xfrm>
          <a:prstGeom prst="rect">
            <a:avLst/>
          </a:prstGeom>
          <a:solidFill>
            <a:srgbClr val="88878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9280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L2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691640" y="20299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283464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44444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drives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14400" y="305409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Human, every step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14400" y="3547872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44444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Claude's job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14400" y="376732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pair: suggest, draft, explain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14400" y="426110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44444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Guardrails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14400" y="44805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prompts, plan mode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14400" y="497433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44444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 gate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14400" y="519379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407408" y="1783080"/>
            <a:ext cx="352044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88900" dist="38100" dir="8100000">
              <a:srgbClr val="26215C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407408" y="1783080"/>
            <a:ext cx="3520440" cy="868680"/>
          </a:xfrm>
          <a:prstGeom prst="rect">
            <a:avLst/>
          </a:prstGeom>
          <a:solidFill>
            <a:srgbClr val="0F6E56"/>
          </a:solidFill>
          <a:ln/>
        </p:spPr>
      </p:sp>
      <p:sp>
        <p:nvSpPr>
          <p:cNvPr id="19" name="Text 17"/>
          <p:cNvSpPr/>
          <p:nvPr/>
        </p:nvSpPr>
        <p:spPr>
          <a:xfrm>
            <a:off x="4681728" y="189280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L3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458968" y="20299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Supervised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81728" y="283464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F6E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drives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681728" y="305409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runs a workflow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681728" y="3547872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F6E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Claude's job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681728" y="376732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commands, skills, sub-agents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681728" y="426110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F6E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Guardrails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681728" y="44805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Hooks, rules, scoped tools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681728" y="497433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F6E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 gate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681728" y="519379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defined checkpoints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174736" y="1783080"/>
            <a:ext cx="352044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88900" dist="38100" dir="8100000">
              <a:srgbClr val="26215C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74736" y="1783080"/>
            <a:ext cx="3520440" cy="868680"/>
          </a:xfrm>
          <a:prstGeom prst="rect">
            <a:avLst/>
          </a:prstGeom>
          <a:solidFill>
            <a:srgbClr val="534AB7"/>
          </a:solidFill>
          <a:ln/>
        </p:spPr>
      </p:sp>
      <p:sp>
        <p:nvSpPr>
          <p:cNvPr id="31" name="Text 29"/>
          <p:cNvSpPr/>
          <p:nvPr/>
        </p:nvSpPr>
        <p:spPr>
          <a:xfrm>
            <a:off x="8449056" y="189280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L4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9226296" y="20299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Delegated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449056" y="283464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C34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drives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449056" y="305409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Claude, headless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449056" y="3547872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C34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Claude's job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449056" y="376732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unattended: CI, claude -p, SDK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449056" y="426110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C34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Guardrails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449056" y="44805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Policy-as-code, sandbox, audit log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8449056" y="497433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C34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 gate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449056" y="519379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audit only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640080" y="59893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L2 you approve each step   ·   L3 you approve at checkpoints   ·   L4 you audit outcomes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SDLC Masterclass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1556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6E56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HANDS-ON LAB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firmware-lab — a sensor gateway in C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262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is.  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host-buildable embedded-C firmware: simulated I2C sensor → wire-frame protocol → simulated UART uplink, plus a debug CLI. Builds in seconds with gcc / make — no hardware, no cross-toolchain.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3419856"/>
            <a:ext cx="146304" cy="146304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338328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62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baseline.  </a:t>
            </a:r>
            <a:pPr indent="0" marL="0">
              <a:buNone/>
            </a:pPr>
            <a:r>
              <a:rPr lang="en-US" sz="13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Unity tests pass, CI green — yet 4 latent bugs lurk.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4133088"/>
            <a:ext cx="146304" cy="146304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4096512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62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flagship feature.  </a:t>
            </a:r>
            <a:pPr indent="0" marL="0">
              <a:buNone/>
            </a:pPr>
            <a:r>
              <a:rPr lang="en-US" sz="13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FR-7: add a CRC-16 to the wire frame, built across the course.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846320"/>
            <a:ext cx="146304" cy="146304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1" name="Text 9"/>
          <p:cNvSpPr/>
          <p:nvPr/>
        </p:nvSpPr>
        <p:spPr>
          <a:xfrm>
            <a:off x="932688" y="4809744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62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attack surface.  </a:t>
            </a:r>
            <a:pPr indent="0" marL="0">
              <a:buNone/>
            </a:pPr>
            <a:r>
              <a:rPr lang="en-US" sz="13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input at proto_decode, config_load, the CLI.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5559552"/>
            <a:ext cx="146304" cy="146304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3" name="Text 11"/>
          <p:cNvSpPr/>
          <p:nvPr/>
        </p:nvSpPr>
        <p:spPr>
          <a:xfrm>
            <a:off x="932688" y="5522976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62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drives it.  </a:t>
            </a:r>
            <a:pPr indent="0" marL="0">
              <a:buNone/>
            </a:pPr>
            <a:r>
              <a:rPr lang="en-US" sz="13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lab takes one item requirement → tagged release.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406640" y="1828800"/>
            <a:ext cx="411480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88900" dist="38100" dir="8100000">
              <a:srgbClr val="26215C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680960" y="2011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E6E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map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732520" y="242316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E7E5FA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32520" y="2423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34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863840" y="3200400"/>
            <a:ext cx="3200400" cy="402336"/>
          </a:xfrm>
          <a:prstGeom prst="roundRect">
            <a:avLst>
              <a:gd name="adj" fmla="val 11364"/>
            </a:avLst>
          </a:prstGeom>
          <a:solidFill>
            <a:srgbClr val="DCF0E9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63840" y="3200400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6E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cli.c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464040" y="3090672"/>
            <a:ext cx="0" cy="109728"/>
          </a:xfrm>
          <a:prstGeom prst="line">
            <a:avLst/>
          </a:prstGeom>
          <a:noFill/>
          <a:ln w="12700">
            <a:solidFill>
              <a:srgbClr val="B4B2A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63840" y="3712464"/>
            <a:ext cx="3200400" cy="402336"/>
          </a:xfrm>
          <a:prstGeom prst="roundRect">
            <a:avLst>
              <a:gd name="adj" fmla="val 11364"/>
            </a:avLst>
          </a:prstGeom>
          <a:solidFill>
            <a:srgbClr val="DCF0E9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63840" y="3712464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6E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protocol.c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464040" y="3602736"/>
            <a:ext cx="0" cy="109728"/>
          </a:xfrm>
          <a:prstGeom prst="line">
            <a:avLst/>
          </a:prstGeom>
          <a:noFill/>
          <a:ln w="12700">
            <a:solidFill>
              <a:srgbClr val="B4B2A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0" y="4224528"/>
            <a:ext cx="3200400" cy="402336"/>
          </a:xfrm>
          <a:prstGeom prst="roundRect">
            <a:avLst>
              <a:gd name="adj" fmla="val 11364"/>
            </a:avLst>
          </a:prstGeom>
          <a:solidFill>
            <a:srgbClr val="DCF0E9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63840" y="4224528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6E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config.c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464040" y="4114800"/>
            <a:ext cx="0" cy="109728"/>
          </a:xfrm>
          <a:prstGeom prst="line">
            <a:avLst/>
          </a:prstGeom>
          <a:noFill/>
          <a:ln w="12700">
            <a:solidFill>
              <a:srgbClr val="B4B2A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63840" y="4736592"/>
            <a:ext cx="3200400" cy="402336"/>
          </a:xfrm>
          <a:prstGeom prst="roundRect">
            <a:avLst>
              <a:gd name="adj" fmla="val 11364"/>
            </a:avLst>
          </a:prstGeom>
          <a:solidFill>
            <a:srgbClr val="DCF0E9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63840" y="4736592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6E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ring_buffer.c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464040" y="4626864"/>
            <a:ext cx="0" cy="109728"/>
          </a:xfrm>
          <a:prstGeom prst="line">
            <a:avLst/>
          </a:prstGeom>
          <a:noFill/>
          <a:ln w="12700">
            <a:solidFill>
              <a:srgbClr val="B4B2A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0" y="5248656"/>
            <a:ext cx="3200400" cy="402336"/>
          </a:xfrm>
          <a:prstGeom prst="roundRect">
            <a:avLst>
              <a:gd name="adj" fmla="val 11364"/>
            </a:avLst>
          </a:prstGeom>
          <a:solidFill>
            <a:srgbClr val="DCF0E9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63840" y="524865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6E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hal/ (sensor, uart)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464040" y="5138928"/>
            <a:ext cx="0" cy="109728"/>
          </a:xfrm>
          <a:prstGeom prst="line">
            <a:avLst/>
          </a:prstGeom>
          <a:noFill/>
          <a:ln w="12700">
            <a:solidFill>
              <a:srgbClr val="B4B2A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SDLC Masterclass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1556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534AB7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34AB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THE PIECES FIT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repos: the work and the learning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47548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88900" dist="38100" dir="8100000">
              <a:srgbClr val="26215C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4754880" cy="777240"/>
          </a:xfrm>
          <a:prstGeom prst="rect">
            <a:avLst/>
          </a:prstGeom>
          <a:solidFill>
            <a:srgbClr val="0F6E5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9385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firmware-lab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286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 — what you build 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32688" y="2880360"/>
            <a:ext cx="128016" cy="128016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0" name="Text 8"/>
          <p:cNvSpPr/>
          <p:nvPr/>
        </p:nvSpPr>
        <p:spPr>
          <a:xfrm>
            <a:off x="1188720" y="28346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+ draft spec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32688" y="3483864"/>
            <a:ext cx="128016" cy="128016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2" name="Text 10"/>
          <p:cNvSpPr/>
          <p:nvPr/>
        </p:nvSpPr>
        <p:spPr>
          <a:xfrm>
            <a:off x="1188720" y="343814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bugs + FR-7 feature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32688" y="4087368"/>
            <a:ext cx="128016" cy="128016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4" name="Text 12"/>
          <p:cNvSpPr/>
          <p:nvPr/>
        </p:nvSpPr>
        <p:spPr>
          <a:xfrm>
            <a:off x="1188720" y="404164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CI, build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32688" y="4690872"/>
            <a:ext cx="128016" cy="128016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6" name="Text 14"/>
          <p:cNvSpPr/>
          <p:nvPr/>
        </p:nvSpPr>
        <p:spPr>
          <a:xfrm>
            <a:off x="1188720" y="464515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every student clones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766560" y="1828800"/>
            <a:ext cx="47548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88900" dist="38100" dir="8100000">
              <a:srgbClr val="26215C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0" y="1828800"/>
            <a:ext cx="4754880" cy="777240"/>
          </a:xfrm>
          <a:prstGeom prst="rect">
            <a:avLst/>
          </a:prstGeom>
          <a:solidFill>
            <a:srgbClr val="534AB7"/>
          </a:solidFill>
          <a:ln/>
        </p:spPr>
      </p:sp>
      <p:sp>
        <p:nvSpPr>
          <p:cNvPr id="19" name="Text 17"/>
          <p:cNvSpPr/>
          <p:nvPr/>
        </p:nvSpPr>
        <p:spPr>
          <a:xfrm>
            <a:off x="7040880" y="19385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cc-masterclass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040880" y="2286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learning — how to do it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059168" y="2880360"/>
            <a:ext cx="128016" cy="128016"/>
          </a:xfrm>
          <a:prstGeom prst="ellipse">
            <a:avLst/>
          </a:prstGeom>
          <a:solidFill>
            <a:srgbClr val="534AB7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0" y="28346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SDLC modules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059168" y="3483864"/>
            <a:ext cx="128016" cy="128016"/>
          </a:xfrm>
          <a:prstGeom prst="ellipse">
            <a:avLst/>
          </a:prstGeom>
          <a:solidFill>
            <a:srgbClr val="534AB7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0" y="343814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guide + answer key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059168" y="4087368"/>
            <a:ext cx="128016" cy="128016"/>
          </a:xfrm>
          <a:prstGeom prst="ellipse">
            <a:avLst/>
          </a:prstGeom>
          <a:solidFill>
            <a:srgbClr val="534AB7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0" y="404164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.claude/ artifacts you build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059168" y="4690872"/>
            <a:ext cx="128016" cy="128016"/>
          </a:xfrm>
          <a:prstGeom prst="ellipse">
            <a:avLst/>
          </a:prstGeom>
          <a:solidFill>
            <a:srgbClr val="534AB7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0" y="464515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cc-masterclass-kit plugin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40680" y="3657600"/>
            <a:ext cx="1280160" cy="0"/>
          </a:xfrm>
          <a:prstGeom prst="line">
            <a:avLst/>
          </a:prstGeom>
          <a:noFill/>
          <a:ln w="25400">
            <a:solidFill>
              <a:srgbClr val="888780"/>
            </a:solidFill>
            <a:prstDash val="solid"/>
            <a:headEnd type="triangle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 is the work; the course is how to do it with Claude Code, autonomy chosen per stage.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SDLC Masterclass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1556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6E56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1 · REQUIREMENTS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Requirements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LESSON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Elicit, don't assume.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failure mode is confident invention — prompt it to ask every open question before it drafts a line.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040880" y="1920240"/>
            <a:ext cx="44805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88900" dist="38100" dir="8100000">
              <a:srgbClr val="26215C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60920" y="2194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E6E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CLAUDE CODE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60920" y="2487168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· plan mode · capture a command · MCP to the issue tracker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60920" y="3703320"/>
            <a:ext cx="3840480" cy="0"/>
          </a:xfrm>
          <a:prstGeom prst="line">
            <a:avLst/>
          </a:prstGeom>
          <a:noFill/>
          <a:ln w="12700">
            <a:solidFill>
              <a:srgbClr val="E2E0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0920" y="38404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E6E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HANDS-ON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60920" y="413308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backlog FR-7 into a testable spec with acceptance criteria + a traceability row.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360920" y="5285232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DCF0E9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60920" y="528523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L3 supervised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SDLC Masterclass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6E56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2 · DESIGN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LESSON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Fan out, then decide on paper.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exploration returns conclusions, not file dumps; the decision earns a durable ADR — threats included, while the design is still cheap to change.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040880" y="1920240"/>
            <a:ext cx="44805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88900" dist="38100" dir="8100000">
              <a:srgbClr val="26215C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60920" y="2194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E6E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CLAUDE CODE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60920" y="2487168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/ Plan sub-agents · plan mode · ADRs · threat model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60920" y="3703320"/>
            <a:ext cx="3840480" cy="0"/>
          </a:xfrm>
          <a:prstGeom prst="line">
            <a:avLst/>
          </a:prstGeom>
          <a:noFill/>
          <a:ln w="12700">
            <a:solidFill>
              <a:srgbClr val="E2E0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0920" y="38404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E6E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HANDS-ON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60920" y="413308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 CRC change; threat-model the frame (CRC ≠ tamper-proofing); a design-reviewer sub-agent critiques the ADR.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360920" y="5285232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DCF0E9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60920" y="528523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L3 supervised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SDLC Masterclass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6E56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3 · IMPLEMENTATION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Implementation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LESSON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Guardrails replace supervision.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Rules, hooks, and scoped permissions watch the work so you review the diff, not each keystroke.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040880" y="1920240"/>
            <a:ext cx="44805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88900" dist="38100" dir="8100000">
              <a:srgbClr val="26215C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60920" y="2194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E6E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CLAUDE CODE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60920" y="2487168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rules · format-on-edit hook · permission deny-rules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60920" y="3703320"/>
            <a:ext cx="3840480" cy="0"/>
          </a:xfrm>
          <a:prstGeom prst="line">
            <a:avLst/>
          </a:prstGeom>
          <a:noFill/>
          <a:ln w="12700">
            <a:solidFill>
              <a:srgbClr val="E2E0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0920" y="38404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E6E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HANDS-ON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60920" y="413308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FR-7; the hook auto-formats; edits to vendor/ are blocked.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360920" y="5285232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DCF0E9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60920" y="528523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L3 supervised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SDLC Masterclass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534AB7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34AB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4 · TEST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34AB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LESSON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Tests are self-checking.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is delegable because a wrong test goes red — but green never means correct.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040880" y="1920240"/>
            <a:ext cx="44805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88900" dist="38100" dir="8100000">
              <a:srgbClr val="26215C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60920" y="2194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E6E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CLAUDE CODE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60920" y="2487168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test-writer sub-agent · test-gen skill · coverage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60920" y="3703320"/>
            <a:ext cx="3840480" cy="0"/>
          </a:xfrm>
          <a:prstGeom prst="line">
            <a:avLst/>
          </a:prstGeom>
          <a:noFill/>
          <a:ln w="12700">
            <a:solidFill>
              <a:srgbClr val="E2E0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0920" y="38404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E6E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HANDS-ON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60920" y="413308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tests that expose BUG-1 and BUG-4 the green suite hid.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360920" y="5285232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E7E5FA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60920" y="528523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34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L4 delegated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SDLC Masterclass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6E56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5 · DEBUG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Debug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LESSON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loop of evidence.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symptoms, not answers; make the agent show you the faulting line, not guess at it.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040880" y="1920240"/>
            <a:ext cx="44805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88900" dist="38100" dir="8100000">
              <a:srgbClr val="26215C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60920" y="2194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E6E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CLAUDE CODE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60920" y="2487168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gdb + AddressSanitizer · triage sub-agent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60920" y="3703320"/>
            <a:ext cx="3840480" cy="0"/>
          </a:xfrm>
          <a:prstGeom prst="line">
            <a:avLst/>
          </a:prstGeom>
          <a:noFill/>
          <a:ln w="12700">
            <a:solidFill>
              <a:srgbClr val="E2E0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0920" y="38404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E6E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HANDS-ON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60920" y="413308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 three seeded bugs from field tickets alone.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360920" y="5285232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DCF0E9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60920" y="528523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L3 supervised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SDLC Masterclass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534AB7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34AB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6 · SECURITY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34AB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LESSON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Split finding from judging.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Scanning and fuzzing are delegable to L4; triage stays human. Fuzzing finds what tests miss.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040880" y="1920240"/>
            <a:ext cx="44805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88900" dist="38100" dir="8100000">
              <a:srgbClr val="26215C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60920" y="2194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E6E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CLAUDE CODE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60920" y="2487168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/security-review · gate hooks · libFuzzer · security-reviewer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60920" y="3703320"/>
            <a:ext cx="3840480" cy="0"/>
          </a:xfrm>
          <a:prstGeom prst="line">
            <a:avLst/>
          </a:prstGeom>
          <a:noFill/>
          <a:ln w="12700">
            <a:solidFill>
              <a:srgbClr val="E2E0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0920" y="38404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E6E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HANDS-ON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60920" y="413308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 proto_decode → BUG-1 in seconds; a hook blocks a planted secret.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360920" y="5285232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E7E5FA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60920" y="528523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34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L4 delegated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SDLC Masterclass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534AB7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34AB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7 · BUILD &amp; INTEGRATE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&amp; integrate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34AB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LESSON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first true L4.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oracle + sandbox + audit log make unattended autonomy genuinely safe here — but a CI agent reads attacker-controlled PRs: scope its tools, keep merge authority human.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040880" y="1920240"/>
            <a:ext cx="44805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88900" dist="38100" dir="8100000">
              <a:srgbClr val="26215C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60920" y="2194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E6E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CLAUDE CODE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60920" y="2487168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Headless claude -p · build-fixer loop · /code-review · CI bot · injection guardrails · supply chain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60920" y="3703320"/>
            <a:ext cx="3840480" cy="0"/>
          </a:xfrm>
          <a:prstGeom prst="line">
            <a:avLst/>
          </a:prstGeom>
          <a:noFill/>
          <a:ln w="12700">
            <a:solidFill>
              <a:srgbClr val="E2E0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0920" y="38404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E6E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HANDS-ON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60920" y="413308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the build; an L4 fixer loop repairs it; agent review stacks before human review.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360920" y="5285232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E7E5FA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60920" y="528523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34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L4 delegated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SDLC Masterclass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534AB7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34AB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8 · RELEASE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Release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34AB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LESSON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Automate the typing, not the call.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Notes, changelog, and tag checks are delegable; the go/no-go to ship stays human — and what ships is signed.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040880" y="1920240"/>
            <a:ext cx="44805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88900" dist="38100" dir="8100000">
              <a:srgbClr val="26215C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60920" y="2194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E6E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CLAUDE CODE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60920" y="2487168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release-notes skill · semver hook · signed tag + digests · /schedule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60920" y="3703320"/>
            <a:ext cx="3840480" cy="0"/>
          </a:xfrm>
          <a:prstGeom prst="line">
            <a:avLst/>
          </a:prstGeom>
          <a:noFill/>
          <a:ln w="12700">
            <a:solidFill>
              <a:srgbClr val="E2E0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0920" y="38404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E6E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HANDS-ON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60920" y="413308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v1.1.0: the agent drafts notes from commits, you approve and sign the tag.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360920" y="5285232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E7E5FA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60920" y="528523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34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L4 delegated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SDLC Masterclass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534AB7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34AB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9 · ORCHESTRATION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Orchestration &amp; dynamic workflow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34AB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LESSON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Compose — and know when not to.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pipeline vs. a workflow that picks its own next step. Don't orchestrate what one session does better.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040880" y="1920240"/>
            <a:ext cx="44805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88900" dist="38100" dir="8100000">
              <a:srgbClr val="26215C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60920" y="2194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E6E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CLAUDE CODE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60920" y="2487168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fan-out · orchestrator command · Agent SDK · /loop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60920" y="3703320"/>
            <a:ext cx="3840480" cy="0"/>
          </a:xfrm>
          <a:prstGeom prst="line">
            <a:avLst/>
          </a:prstGeom>
          <a:noFill/>
          <a:ln w="12700">
            <a:solidFill>
              <a:srgbClr val="E2E0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0920" y="38404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E6E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HANDS-ON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60920" y="413308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/ship-feature: plan → implementer + reviewer + tester → merge, on a real backlog item.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360920" y="5285232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E7E5FA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60920" y="528523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34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L4 delegated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SDLC Masterclass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534AB7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34AB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COURSE SPINE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SDLC × autonomy: the ceiling per stage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881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931920"/>
                <a:gridCol w="1188720"/>
                <a:gridCol w="32918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Stage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1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Primitive focus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1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Ceiling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1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Why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15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62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Prompting, plan mode, command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56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L3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i="1" dirty="0">
                          <a:solidFill>
                            <a:srgbClr val="6E6E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owns intent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62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E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Explore sub-agents, ADR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56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L3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i="1" dirty="0">
                          <a:solidFill>
                            <a:srgbClr val="6E6E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judgment human-gated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E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62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Rules, hooks, permissions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56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L3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i="1" dirty="0">
                          <a:solidFill>
                            <a:srgbClr val="6E6E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rules + tests + review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62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E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test-writer, coverage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C3489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L4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i="1" dirty="0">
                          <a:solidFill>
                            <a:srgbClr val="6E6E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suite is self-checking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E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62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Debug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gdb, ASan, triage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56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L3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i="1" dirty="0">
                          <a:solidFill>
                            <a:srgbClr val="6E6E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interactive by nature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62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scan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E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fuzzing, gate hooks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C3489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L4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i="1" dirty="0">
                          <a:solidFill>
                            <a:srgbClr val="6E6E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scan delegable, triage human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E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62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/ integrate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headless, CI bot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C3489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L4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i="1" dirty="0">
                          <a:solidFill>
                            <a:srgbClr val="6E6E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+ sandbox + audit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62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E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release-notes, semver hook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C3489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L3/L4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i="1" dirty="0">
                          <a:solidFill>
                            <a:srgbClr val="6E6E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automate, human ships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E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62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Orchestration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fan-out, Agent SDK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C3489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L4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i="1" dirty="0">
                          <a:solidFill>
                            <a:srgbClr val="6E6E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durability is needed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SDLC Masterclass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6E56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CLOSING DISCUSSION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Your team's autonomy rubric — fill it in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no universal answers. A medical or automotive team sits lower than a hobby project. The win is a shared, written, defensible position.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68880"/>
          <a:ext cx="108813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011680"/>
                <a:gridCol w="3108960"/>
                <a:gridCol w="3200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Stage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1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Typical ceiling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1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Your team's call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1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Rationale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1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56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L3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56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L3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56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L3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C3489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L4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Debug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56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L3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scan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C3489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L4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/ integrate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C3489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L4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C3489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L3/L4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Orchestration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C3489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L4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SDLC Masterclass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1556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534AB7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34AB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THIS ROOM TO THE ORG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Roll out: one toolkit, managed-local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760720" cy="2743200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488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FE1C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install the team toolkit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260604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plugin marketplace add \
  kishore123/cc-masterclass
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plugin install \
  cc-masterclass-kit@cc-masterclass
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F77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plugin update cc-masterclass-kit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858000" y="1965960"/>
            <a:ext cx="91440" cy="1143000"/>
          </a:xfrm>
          <a:prstGeom prst="rect">
            <a:avLst/>
          </a:prstGeom>
          <a:solidFill>
            <a:srgbClr val="534AB7"/>
          </a:solidFill>
          <a:ln/>
        </p:spPr>
      </p:sp>
      <p:sp>
        <p:nvSpPr>
          <p:cNvPr id="9" name="Text 7"/>
          <p:cNvSpPr/>
          <p:nvPr/>
        </p:nvSpPr>
        <p:spPr>
          <a:xfrm>
            <a:off x="7086600" y="1965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hub is a git repo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086600" y="2350008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marketplace is the source of truth; update re-pulls — versioned, auditable, rollback-able.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0" y="3337560"/>
            <a:ext cx="91440" cy="1143000"/>
          </a:xfrm>
          <a:prstGeom prst="rect">
            <a:avLst/>
          </a:prstGeom>
          <a:solidFill>
            <a:srgbClr val="534AB7"/>
          </a:solidFill>
          <a:ln/>
        </p:spPr>
      </p:sp>
      <p:sp>
        <p:nvSpPr>
          <p:cNvPr id="12" name="Text 10"/>
          <p:cNvSpPr/>
          <p:nvPr/>
        </p:nvSpPr>
        <p:spPr>
          <a:xfrm>
            <a:off x="7086600" y="33375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Guardrails ship too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86600" y="3721608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secret-scan gate and format hook travel in the plugin, so everyone inherits the same policy.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0" y="4709160"/>
            <a:ext cx="91440" cy="1143000"/>
          </a:xfrm>
          <a:prstGeom prst="rect">
            <a:avLst/>
          </a:prstGeom>
          <a:solidFill>
            <a:srgbClr val="534AB7"/>
          </a:solidFill>
          <a:ln/>
        </p:spPr>
      </p:sp>
      <p:sp>
        <p:nvSpPr>
          <p:cNvPr id="15" name="Text 13"/>
          <p:cNvSpPr/>
          <p:nvPr/>
        </p:nvSpPr>
        <p:spPr>
          <a:xfrm>
            <a:off x="7086600" y="47091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Repo-specific stays in-repo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86600" y="5093208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skills live with the code and version with it — no drift.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SDLC Masterclass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556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6E56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 IT WITH YOU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1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everything lives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6E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 HERE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5120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88900" dist="38100" dir="8100000">
              <a:srgbClr val="26215C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377440"/>
            <a:ext cx="82296" cy="868680"/>
          </a:xfrm>
          <a:prstGeom prst="rect">
            <a:avLst/>
          </a:prstGeom>
          <a:solidFill>
            <a:srgbClr val="0F6E5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505456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1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COURSE.md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2834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× autonomy map + module index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429000"/>
            <a:ext cx="5120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88900" dist="38100" dir="8100000">
              <a:srgbClr val="26215C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3429000"/>
            <a:ext cx="82296" cy="868680"/>
          </a:xfrm>
          <a:prstGeom prst="rect">
            <a:avLst/>
          </a:prstGeom>
          <a:solidFill>
            <a:srgbClr val="0F6E56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557016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1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SELF_STUDY.md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3886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self-directed path: one day, or 5–6 evenings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480560"/>
            <a:ext cx="5120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88900" dist="38100" dir="8100000">
              <a:srgbClr val="26215C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4480560"/>
            <a:ext cx="82296" cy="868680"/>
          </a:xfrm>
          <a:prstGeom prst="rect">
            <a:avLst/>
          </a:prstGeom>
          <a:solidFill>
            <a:srgbClr val="0F6E56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608576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1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firmware-lab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" y="4937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clone, make, make test — then work the backlog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217920" y="19202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34AB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REFERENCE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2377440"/>
            <a:ext cx="5120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88900" dist="38100" dir="8100000">
              <a:srgbClr val="26215C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0" y="2377440"/>
            <a:ext cx="82296" cy="868680"/>
          </a:xfrm>
          <a:prstGeom prst="rect">
            <a:avLst/>
          </a:prstGeom>
          <a:solidFill>
            <a:srgbClr val="534AB7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2505456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1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README.md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92240" y="2834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every Claude Code primitive works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17920" y="3429000"/>
            <a:ext cx="5120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88900" dist="38100" dir="8100000">
              <a:srgbClr val="26215C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17920" y="3429000"/>
            <a:ext cx="82296" cy="868680"/>
          </a:xfrm>
          <a:prstGeom prst="rect">
            <a:avLst/>
          </a:prstGeom>
          <a:solidFill>
            <a:srgbClr val="534AB7"/>
          </a:solidFill>
          <a:ln/>
        </p:spPr>
      </p:sp>
      <p:sp>
        <p:nvSpPr>
          <p:cNvPr id="25" name="Text 23"/>
          <p:cNvSpPr/>
          <p:nvPr/>
        </p:nvSpPr>
        <p:spPr>
          <a:xfrm>
            <a:off x="6492240" y="3557016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1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instructor/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92240" y="3886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sheet, answer key, lab-validation status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217920" y="4480560"/>
            <a:ext cx="5120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88900" dist="38100" dir="8100000">
              <a:srgbClr val="26215C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17920" y="4480560"/>
            <a:ext cx="82296" cy="868680"/>
          </a:xfrm>
          <a:prstGeom prst="rect">
            <a:avLst/>
          </a:prstGeom>
          <a:solidFill>
            <a:srgbClr val="534AB7"/>
          </a:solidFill>
          <a:ln/>
        </p:spPr>
      </p:sp>
      <p:sp>
        <p:nvSpPr>
          <p:cNvPr id="29" name="Text 27"/>
          <p:cNvSpPr/>
          <p:nvPr/>
        </p:nvSpPr>
        <p:spPr>
          <a:xfrm>
            <a:off x="6492240" y="4608576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1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cc-masterclass-kit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92240" y="4937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installable plugin + marketplace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E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github.com/kishore123/cc-masterclass   ·   github.com/kishore123/firmware-lab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SDLC Masterclass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1556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621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56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" y="0"/>
            <a:ext cx="109728" cy="6858000"/>
          </a:xfrm>
          <a:prstGeom prst="rect">
            <a:avLst/>
          </a:prstGeom>
          <a:solidFill>
            <a:srgbClr val="534AB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1945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 ship.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914400" y="34290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backlog item. Take it requirement → tagged release. Choose your autonomy at each step — and defend it.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E1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github.com/kishore123/cc-masterclass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SDLC Masterclass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556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SDLC Masterclass</dc:title>
  <dc:subject>PptxGenJS Presentation</dc:subject>
  <dc:creator>Claude Code SDLC Masterclass</dc:creator>
  <cp:lastModifiedBy>Claude Code SDLC Masterclass</cp:lastModifiedBy>
  <cp:revision>1</cp:revision>
  <dcterms:created xsi:type="dcterms:W3CDTF">2026-07-02T18:26:46Z</dcterms:created>
  <dcterms:modified xsi:type="dcterms:W3CDTF">2026-07-02T18:26:46Z</dcterms:modified>
</cp:coreProperties>
</file>